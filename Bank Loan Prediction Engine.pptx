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Poppins Medium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2B5B61-D7BD-4B0E-8E22-E29F349F0BA1}">
  <a:tblStyle styleId="{842B5B61-D7BD-4B0E-8E22-E29F349F0BA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PoppinsMedium-bold.fntdata"/><Relationship Id="rId27" Type="http://schemas.openxmlformats.org/officeDocument/2006/relationships/font" Target="fonts/Poppins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regular.fntdata"/><Relationship Id="rId30" Type="http://schemas.openxmlformats.org/officeDocument/2006/relationships/font" Target="fonts/Poppins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PoppinsSemiBold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aadhavjawahar-sys/Bank_Loan_Prediction/tree/main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https://github.com/aadhavjawahar-sys/Bank_Loan_Prediction/tree/main</a:t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84189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Bank Loan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Prediction Engine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83210"/>
            <a:ext cx="8572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Logistic Regression approach to streamlining credit risk and loan approval processes.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715000" y="2700337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95275" y="2928937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01. The Economic Catalyst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357562"/>
            <a:ext cx="8572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"Banks play an important role in spurring the economy, preventing economic recessions, and greasing the wheels of industry."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1262"/>
            <a:ext cx="5286375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81262"/>
            <a:ext cx="5286375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825" y="2795587"/>
            <a:ext cx="46577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69381" y="3405187"/>
            <a:ext cx="489061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Acquisition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85825" y="3995737"/>
            <a:ext cx="46577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Leveraging a Kaggle dataset comprising demographics from over 500 borrowers to identify key lending patterns.</a:t>
            </a:r>
            <a:endParaRPr/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8450" y="2795587"/>
            <a:ext cx="46577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6532006" y="3405187"/>
            <a:ext cx="489061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Primary Goal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48450" y="3995737"/>
            <a:ext cx="46577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Automate the classification of loan status (Approved vs. Denied) to reduce manual capital acquisition barriers.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00100" y="571500"/>
            <a:ext cx="113614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Overview &amp; Objectives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85937"/>
            <a:ext cx="11049000" cy="426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6" name="Google Shape;116;p16"/>
          <p:cNvGraphicFramePr/>
          <p:nvPr/>
        </p:nvGraphicFramePr>
        <p:xfrm>
          <a:off x="581025" y="1795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{842B5B61-D7BD-4B0E-8E22-E29F349F0BA1}</a:tableStyleId>
              </a:tblPr>
              <a:tblGrid>
                <a:gridCol w="2750500"/>
                <a:gridCol w="6161325"/>
                <a:gridCol w="2118125"/>
              </a:tblGrid>
              <a:tr h="60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Impact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0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Total_Income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Combined annual earnings of the borrower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Numerical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0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LoanAmount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Requested principal amount ($'000)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Numerical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0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Credit_History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Past repayment records (Binary: 0 or 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Categorical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0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Education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Graduate or Undergrad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Categorical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0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Married / Gender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Demographic identifiers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Categorical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0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Self_Employed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Employment status of the applicant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Categorical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16"/>
          <p:cNvSpPr/>
          <p:nvPr/>
        </p:nvSpPr>
        <p:spPr>
          <a:xfrm>
            <a:off x="581025" y="2414587"/>
            <a:ext cx="275049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3331517" y="2414587"/>
            <a:ext cx="616133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9492853" y="2414587"/>
            <a:ext cx="211812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81025" y="3028950"/>
            <a:ext cx="27504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3331517" y="3028950"/>
            <a:ext cx="61613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9492853" y="3028950"/>
            <a:ext cx="21181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81025" y="3629025"/>
            <a:ext cx="27504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3331517" y="3629025"/>
            <a:ext cx="61613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9492853" y="3629025"/>
            <a:ext cx="21181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81025" y="4229100"/>
            <a:ext cx="27504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331517" y="4229100"/>
            <a:ext cx="61613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9492853" y="4229100"/>
            <a:ext cx="21181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81025" y="4829175"/>
            <a:ext cx="27504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3331517" y="4829175"/>
            <a:ext cx="61613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9492853" y="4829175"/>
            <a:ext cx="21181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81025" y="5429250"/>
            <a:ext cx="27504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3331517" y="5429250"/>
            <a:ext cx="61613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9492853" y="5429250"/>
            <a:ext cx="21181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81025" y="6029325"/>
            <a:ext cx="27504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331517" y="6029325"/>
            <a:ext cx="61613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9492853" y="6029325"/>
            <a:ext cx="21181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800100" y="571500"/>
            <a:ext cx="113614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Feature Dictionary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86675" y="63773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*There are 2 more features</a:t>
            </a:r>
            <a:endParaRPr sz="900" u="sn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34641"/>
            <a:ext cx="5286375" cy="356979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245268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Binary Classification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304323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Logistic Regression is a classification algorithm that predicts a categorical outcome based on input features.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44166"/>
            <a:ext cx="5267325" cy="355074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847725" y="380523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52500" y="3805237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Demographics and financial features.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47725" y="409098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52500" y="409098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Weights: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model adjusts weight values during training to maximize predictive accuracy.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47725" y="466248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52500" y="466248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Outcome: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discrete "Approved" or "Denied" decision.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00100" y="571500"/>
            <a:ext cx="113614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Methodology: Logistic Regression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687" y="2014537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9212" y="2024062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6334125" y="271938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Clean Data Foundation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334125" y="330993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Kaggle dataset features ~500 borrowers with diverse demographics including Property Area and Employment.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334125" y="4071937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Efficiency: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Since the source was already in a structured format, the model focused directly on the 8 most predictive features without extensive pre-processing.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00100" y="571500"/>
            <a:ext cx="113614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Processing &amp; Integrity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44862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Strategic splitting ensures the model generalizes well to unseen borrower profiles within the existing data scale.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400175" y="2876550"/>
            <a:ext cx="208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r>
              <a:rPr b="1" lang="en-US" sz="12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i="0" lang="en-US" sz="12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Training Set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5143500" y="2876550"/>
            <a:ext cx="210502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25%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Testing Set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905875" y="2876550"/>
            <a:ext cx="188595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Key Features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00100" y="571500"/>
            <a:ext cx="113614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Experimental Design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71500" y="4300537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model demonstrates consistency across both training and testing datasets, maintaining an ~80% success rate in predicting loan outcomes.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00100" y="571500"/>
            <a:ext cx="113614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Predictive Performance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1262"/>
            <a:ext cx="3740199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80449" y="2481262"/>
            <a:ext cx="3740199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40299" y="2481262"/>
            <a:ext cx="3111549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808036" y="2986087"/>
            <a:ext cx="326712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Input Interface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85825" y="3576637"/>
            <a:ext cx="31115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User-friendly entry for numerical and categorical borrower data.</a:t>
            </a:r>
            <a:endParaRPr/>
          </a:p>
        </p:txBody>
      </p:sp>
      <p:pic>
        <p:nvPicPr>
          <p:cNvPr descr="image.png" id="200" name="Google Shape;20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4774" y="2795587"/>
            <a:ext cx="3111549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8116985" y="3405187"/>
            <a:ext cx="326712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Real-time Output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8194774" y="3995737"/>
            <a:ext cx="3111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Immediate classification feedback (Accepted/Rejected) displayed via GUI.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800100" y="571500"/>
            <a:ext cx="113614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GUI &amp; User Interaction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8">
            <a:alphaModFix/>
          </a:blip>
          <a:srcRect b="0" l="0" r="53497" t="0"/>
          <a:stretch/>
        </p:blipFill>
        <p:spPr>
          <a:xfrm>
            <a:off x="4540300" y="2481250"/>
            <a:ext cx="3111600" cy="29349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/>
          <p:nvPr/>
        </p:nvSpPr>
        <p:spPr>
          <a:xfrm>
            <a:off x="5715000" y="2514600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295275" y="2743200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Future Direction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3171825"/>
            <a:ext cx="857250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Exploring advanced algorithms (Random Forest, XGBoost) and larger datasets to further enhance accuracy and eliminate scale-based input issues.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2027932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295275" y="3266182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Questions &amp; Feedback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571500" y="4210942"/>
            <a:ext cx="8572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exploring the Bank Loan Prediction Engine.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/>
          <p:nvPr/>
        </p:nvSpPr>
        <p:spPr>
          <a:xfrm>
            <a:off x="571500" y="26812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571500" y="34528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571500" y="34432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571500" y="34432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571500" y="42148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571500" y="42148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3" name="Google Shape;23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41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1666875" y="28313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https://www.libertybank.com/wp-content/uploads/2025/07/happy-couple-with-their-mortgage-broker.jpg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1666875" y="30646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www.libertybank.com</a:t>
            </a:r>
            <a:endParaRPr/>
          </a:p>
        </p:txBody>
      </p:sp>
      <p:pic>
        <p:nvPicPr>
          <p:cNvPr descr="image.png" id="236" name="Google Shape;23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956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1666875" y="36028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https://static.vecteezy.com/system/resources/previews/077/090/505/non_2x/binary-code-0-1-data-stream-abstract-technology-background-vector.jpg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1666875" y="38361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39" name="Google Shape;23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529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1666875" y="436721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https://static.vecteezy.com/system/resources/thumbnails/070/636/398/small/responsive-website-design-mockup-on-multiple-devices-computer-laptop-tablet-and-smartphone-displaying-modern-interface-photo.jpeg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1666875" y="478631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800100" y="571500"/>
            <a:ext cx="1136142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